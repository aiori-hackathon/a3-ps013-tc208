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93" y="198244"/>
            <a:ext cx="11150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93" y="596822"/>
            <a:ext cx="5273675" cy="76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34978" y="3092784"/>
            <a:ext cx="400050" cy="12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" y="252004"/>
            <a:ext cx="508223" cy="5039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271016"/>
            <a:ext cx="5285232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50" b="1" i="0" u="none">
                <a:solidFill>
                  <a:srgbClr val="0000DC"/>
                </a:solidFill>
                <a:latin typeface="Century Gothic"/>
              </a:rPr>
              <a:t>A3-PS013-TC208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1664208"/>
            <a:ext cx="5257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u="none">
                <a:solidFill>
                  <a:srgbClr val="111111"/>
                </a:solidFill>
                <a:latin typeface="Century Gothic"/>
              </a:rPr>
              <a:t>TraceLens: Incident Timeline and Evidence Collection for Small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" y="2331720"/>
            <a:ext cx="5212080" cy="274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u="none" dirty="0">
                <a:solidFill>
                  <a:srgbClr val="151515"/>
                </a:solidFill>
                <a:latin typeface="Century Gothic"/>
              </a:rPr>
              <a:t>Threat Tracers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IN" sz="850" b="1" i="0" u="none" dirty="0">
                <a:solidFill>
                  <a:srgbClr val="151515"/>
                </a:solidFill>
                <a:latin typeface="Century Gothic"/>
              </a:rPr>
              <a:t>[V JISHNU</a:t>
            </a:r>
            <a:r>
              <a:rPr sz="850" b="1" i="0" u="none" dirty="0">
                <a:solidFill>
                  <a:srgbClr val="151515"/>
                </a:solidFill>
                <a:latin typeface="Century Gothic"/>
              </a:rPr>
              <a:t>]  •  [</a:t>
            </a:r>
            <a:r>
              <a:rPr lang="en-US" sz="850" b="1" dirty="0">
                <a:solidFill>
                  <a:srgbClr val="151515"/>
                </a:solidFill>
                <a:latin typeface="Century Gothic"/>
              </a:rPr>
              <a:t>A VISAL</a:t>
            </a:r>
            <a:r>
              <a:rPr sz="850" b="1" i="0" u="none" dirty="0">
                <a:solidFill>
                  <a:srgbClr val="151515"/>
                </a:solidFill>
                <a:latin typeface="Century Gothic"/>
              </a:rPr>
              <a:t>]  •  [</a:t>
            </a:r>
            <a:r>
              <a:rPr lang="en-US" sz="850" b="1" dirty="0">
                <a:solidFill>
                  <a:srgbClr val="151515"/>
                </a:solidFill>
                <a:latin typeface="Century Gothic"/>
              </a:rPr>
              <a:t>DR. G. JASPHER W KATHRINE</a:t>
            </a:r>
            <a:r>
              <a:rPr sz="850" b="1" i="0" u="none" dirty="0">
                <a:solidFill>
                  <a:srgbClr val="151515"/>
                </a:solidFill>
                <a:latin typeface="Century Gothic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834640"/>
            <a:ext cx="52120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 u="none">
                <a:solidFill>
                  <a:srgbClr val="151515"/>
                </a:solidFill>
                <a:latin typeface="Century Gothic"/>
              </a:rPr>
              <a:t>AIORI Hackathon 3  •  Stage 1 / Level 1 Proposal  •  October 2026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47548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Problem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502920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0" u="none">
                <a:solidFill>
                  <a:srgbClr val="555555"/>
                </a:solidFill>
                <a:latin typeface="Century Gothic"/>
              </a:rPr>
              <a:t>Why small teams need a traceable and uncertainty-aware incident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749808"/>
            <a:ext cx="5166360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 u="none">
                <a:solidFill>
                  <a:srgbClr val="151515"/>
                </a:solidFill>
                <a:latin typeface="Century Gothic"/>
              </a:rPr>
              <a:t>Incident evidence is often spread across host and application logs. A timeline is only useful when events can be traced to their sources and its limitations are made 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161288"/>
            <a:ext cx="5166360" cy="102412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>
                <a:solidFill>
                  <a:srgbClr val="151515"/>
                </a:solidFill>
                <a:latin typeface="Century Gothic"/>
              </a:rPr>
              <a:t>•  Two required log formats may represent the same event differently.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>
                <a:solidFill>
                  <a:srgbClr val="151515"/>
                </a:solidFill>
                <a:latin typeface="Century Gothic"/>
              </a:rPr>
              <a:t>•  Clock offsets or unknown drift can make event ordering uncertain.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>
                <a:solidFill>
                  <a:srgbClr val="151515"/>
                </a:solidFill>
                <a:latin typeface="Century Gothic"/>
              </a:rPr>
              <a:t>•  Evidence may change after collection, while findings still depend on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>
                <a:solidFill>
                  <a:srgbClr val="151515"/>
                </a:solidFill>
                <a:latin typeface="Century Gothic"/>
              </a:rPr>
              <a:t>•  Manual correlation and triage can be slow and hard to reproduce.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" y="2286000"/>
            <a:ext cx="5221224" cy="0"/>
          </a:xfrm>
          <a:prstGeom prst="line">
            <a:avLst/>
          </a:prstGeom>
          <a:ln w="12700">
            <a:solidFill>
              <a:srgbClr val="AAB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5176" y="2368296"/>
            <a:ext cx="1133856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340864"/>
            <a:ext cx="40965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0" b="0" i="0" u="none">
                <a:solidFill>
                  <a:srgbClr val="151515"/>
                </a:solidFill>
                <a:latin typeface="Century Gothic"/>
              </a:rPr>
              <a:t>Propose a lightweight workflow that preserves original logs, builds a source-linked searchable timeline, surfaces uncertainty and integrity changes, and evaluates triage against a manual baseline.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47548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Background &amp;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502920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0" u="none">
                <a:solidFill>
                  <a:srgbClr val="555555"/>
                </a:solidFill>
                <a:latin typeface="Century Gothic"/>
              </a:rPr>
              <a:t>From raw records to a reviewable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722376"/>
            <a:ext cx="52120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5" b="0" i="0" u="none">
                <a:solidFill>
                  <a:srgbClr val="151515"/>
                </a:solidFill>
                <a:latin typeface="Century Gothic"/>
              </a:rPr>
              <a:t>An incident rarely arrives as one clean story: evidence is split across systems, timestamps and formats. TraceLens keeps each transformation traceable to the collected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88136"/>
            <a:ext cx="932688" cy="576072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720" b="1">
                <a:solidFill>
                  <a:srgbClr val="0000DC"/>
                </a:solidFill>
                <a:latin typeface="Century Gothic"/>
              </a:rPr>
              <a:t>1  Collect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30">
                <a:solidFill>
                  <a:srgbClr val="151515"/>
                </a:solidFill>
                <a:latin typeface="Century Gothic"/>
              </a:rPr>
              <a:t>Original files
+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3292" y="1225296"/>
            <a:ext cx="1554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" y="1088136"/>
            <a:ext cx="932688" cy="576072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720" b="1">
                <a:solidFill>
                  <a:srgbClr val="0000DC"/>
                </a:solidFill>
                <a:latin typeface="Century Gothic"/>
              </a:rPr>
              <a:t>2  Parse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30">
                <a:solidFill>
                  <a:srgbClr val="151515"/>
                </a:solidFill>
                <a:latin typeface="Century Gothic"/>
              </a:rPr>
              <a:t>Two PS-required
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0572" y="1225296"/>
            <a:ext cx="1554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1088136"/>
            <a:ext cx="932688" cy="576072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720" b="1">
                <a:solidFill>
                  <a:srgbClr val="0000DC"/>
                </a:solidFill>
                <a:latin typeface="Century Gothic"/>
              </a:rPr>
              <a:t>3  Normalize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30">
                <a:solidFill>
                  <a:srgbClr val="151515"/>
                </a:solidFill>
                <a:latin typeface="Century Gothic"/>
              </a:rPr>
              <a:t>Raw time + UTC
+ tolerance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7852" y="1225296"/>
            <a:ext cx="1554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088136"/>
            <a:ext cx="932688" cy="576072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720" b="1">
                <a:solidFill>
                  <a:srgbClr val="0000DC"/>
                </a:solidFill>
                <a:latin typeface="Century Gothic"/>
              </a:rPr>
              <a:t>4  Correlate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30">
                <a:solidFill>
                  <a:srgbClr val="151515"/>
                </a:solidFill>
                <a:latin typeface="Century Gothic"/>
              </a:rPr>
              <a:t>Source-linked
event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5131" y="1225296"/>
            <a:ext cx="1554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1088136"/>
            <a:ext cx="932688" cy="576072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720" b="1">
                <a:solidFill>
                  <a:srgbClr val="0000DC"/>
                </a:solidFill>
                <a:latin typeface="Century Gothic"/>
              </a:rPr>
              <a:t>5  Review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30">
                <a:solidFill>
                  <a:srgbClr val="151515"/>
                </a:solidFill>
                <a:latin typeface="Century Gothic"/>
              </a:rPr>
              <a:t>Findings, limits
+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" y="1810512"/>
            <a:ext cx="2240280" cy="987552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" y="1874519"/>
            <a:ext cx="204825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70" b="1" i="0" u="none">
                <a:solidFill>
                  <a:srgbClr val="0000DC"/>
                </a:solidFill>
                <a:latin typeface="Century Gothic"/>
              </a:rPr>
              <a:t>WHY INVESTIGATION GETS 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057400"/>
            <a:ext cx="2011680" cy="557784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FORMAT  — fields and timestamp conventions differ.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CLOCK  — UTC fixes known offsets, not unknown drift.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INTEGRITY  — later file changes can affect old findings.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15184" y="1810512"/>
            <a:ext cx="2871216" cy="987552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15768" y="1874519"/>
            <a:ext cx="267004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5" b="1" i="0" u="none">
                <a:solidFill>
                  <a:srgbClr val="0000DC"/>
                </a:solidFill>
                <a:latin typeface="Century Gothic"/>
              </a:rPr>
              <a:t>WORKED EXAMPLE  •  TWO LOGS, TWO CLOCKS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2048256"/>
            <a:ext cx="2651760" cy="493776"/>
          </a:xfrm>
          <a:prstGeom prst="rect">
            <a:avLst/>
          </a:prstGeom>
          <a:noFill/>
        </p:spPr>
        <p:txBody>
          <a:bodyPr wrap="square" lIns="4572" tIns="4572" rIns="4572" bIns="457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0" i="0" u="none">
                <a:solidFill>
                  <a:srgbClr val="151515"/>
                </a:solidFill>
                <a:latin typeface="Century Gothic"/>
              </a:rPr>
              <a:t>auth.log: 10:00:02 +02:00  →  08:00:02 UTC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0" i="0" u="none">
                <a:solidFill>
                  <a:srgbClr val="151515"/>
                </a:solidFill>
                <a:latin typeface="Century Gothic"/>
              </a:rPr>
              <a:t>app.log:  08:00:04 UTC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0" i="0" u="none">
                <a:solidFill>
                  <a:srgbClr val="151515"/>
                </a:solidFill>
                <a:latin typeface="Century Gothic"/>
              </a:rPr>
              <a:t>Assume each clock may be ±3 s: ranges overlap, so event order is uncertain.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" y="2862072"/>
            <a:ext cx="51663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1" i="0" u="none">
                <a:solidFill>
                  <a:srgbClr val="555555"/>
                </a:solidFill>
                <a:latin typeface="Century Gothic"/>
              </a:rPr>
              <a:t>DESIGN RULE: preserve raw time + normalized UTC + justified tolerance + source reference; never imply certainty that the logs cannot support.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109362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Literature &amp; RFC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Literature &amp; RFC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502920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0" u="none">
                <a:solidFill>
                  <a:srgbClr val="555555"/>
                </a:solidFill>
                <a:latin typeface="Century Gothic"/>
              </a:rPr>
              <a:t>Existing foundations and the specific design response in TraceLens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731520"/>
            <a:ext cx="5230368" cy="246888"/>
          </a:xfrm>
          <a:prstGeom prst="rect">
            <a:avLst/>
          </a:prstGeom>
          <a:solidFill>
            <a:srgbClr val="E9EEFF"/>
          </a:solidFill>
          <a:ln w="9525">
            <a:solidFill>
              <a:srgbClr val="E9EE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1" y="758952"/>
            <a:ext cx="1188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70" b="1" i="0" u="none">
                <a:solidFill>
                  <a:srgbClr val="0000DC"/>
                </a:solidFill>
                <a:latin typeface="Century Gothic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758952"/>
            <a:ext cx="17373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70" b="1" i="0" u="none">
                <a:solidFill>
                  <a:srgbClr val="0000DC"/>
                </a:solidFill>
                <a:latin typeface="Century Gothic"/>
              </a:rPr>
              <a:t>ESTABLISHED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758952"/>
            <a:ext cx="20116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70" b="1" i="0" u="none">
                <a:solidFill>
                  <a:srgbClr val="0000DC"/>
                </a:solidFill>
                <a:latin typeface="Century Gothic"/>
              </a:rPr>
              <a:t>TRACE LENS RESPONSE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" y="1257300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1751" y="1019556"/>
            <a:ext cx="1216152" cy="233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5" b="1" i="0" u="none">
                <a:solidFill>
                  <a:srgbClr val="151515"/>
                </a:solidFill>
                <a:latin typeface="Century Gothic"/>
              </a:rPr>
              <a:t>NIST SP 800-92 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010412"/>
            <a:ext cx="1746504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Computer-security log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010412"/>
            <a:ext cx="2011680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Document collection and processing 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257300"/>
            <a:ext cx="5230368" cy="278892"/>
          </a:xfrm>
          <a:prstGeom prst="rect">
            <a:avLst/>
          </a:prstGeom>
          <a:solidFill>
            <a:srgbClr val="FAFBFE"/>
          </a:solidFill>
          <a:ln w="9525">
            <a:solidFill>
              <a:srgbClr val="FAFBF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265176" y="1536192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1751" y="1298448"/>
            <a:ext cx="1216152" cy="233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5" b="1" i="0" u="none">
                <a:solidFill>
                  <a:srgbClr val="151515"/>
                </a:solidFill>
                <a:latin typeface="Century Gothic"/>
              </a:rPr>
              <a:t>NIST SP 800-86 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1289304"/>
            <a:ext cx="1746504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Forensic techniques in incident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1289304"/>
            <a:ext cx="2011680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Keep source provenance and analysis history.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5176" y="1815084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1751" y="1577340"/>
            <a:ext cx="1216152" cy="233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5" b="1" i="0" u="none">
                <a:solidFill>
                  <a:srgbClr val="151515"/>
                </a:solidFill>
                <a:latin typeface="Century Gothic"/>
              </a:rPr>
              <a:t>RFC 3227 [3]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1568196"/>
            <a:ext cx="1746504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Evidence collection and archiving guidance.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1568196"/>
            <a:ext cx="2011680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Record collection metadata; preserve originals.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1815084"/>
            <a:ext cx="5230368" cy="278892"/>
          </a:xfrm>
          <a:prstGeom prst="rect">
            <a:avLst/>
          </a:prstGeom>
          <a:solidFill>
            <a:srgbClr val="FAFBFE"/>
          </a:solidFill>
          <a:ln w="9525">
            <a:solidFill>
              <a:srgbClr val="FAFBF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265176" y="2093976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1751" y="1856232"/>
            <a:ext cx="1216152" cy="233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5" b="1" i="0" u="none">
                <a:solidFill>
                  <a:srgbClr val="151515"/>
                </a:solidFill>
                <a:latin typeface="Century Gothic"/>
              </a:rPr>
              <a:t>RFC 3339 [4]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1847088"/>
            <a:ext cx="1746504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Internet timestamp representation.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1847088"/>
            <a:ext cx="2011680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Parse offsets; retain raw time and normalized UTC.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5176" y="2372868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1751" y="2135124"/>
            <a:ext cx="1216152" cy="233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5" b="1" i="0" u="none">
                <a:solidFill>
                  <a:srgbClr val="151515"/>
                </a:solidFill>
                <a:latin typeface="Century Gothic"/>
              </a:rPr>
              <a:t>NIST FIPS 180-4 [5]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1056" y="2125980"/>
            <a:ext cx="1746504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Standardized cryptographic hash algorithms.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144" y="2125980"/>
            <a:ext cx="2011680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Fingerprint files and detect later differences.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372868"/>
            <a:ext cx="5230368" cy="278892"/>
          </a:xfrm>
          <a:prstGeom prst="rect">
            <a:avLst/>
          </a:prstGeom>
          <a:solidFill>
            <a:srgbClr val="FAFBFE"/>
          </a:solidFill>
          <a:ln w="9525">
            <a:solidFill>
              <a:srgbClr val="FAFBF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265176" y="2651760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1751" y="2414015"/>
            <a:ext cx="1216152" cy="233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5" b="1" i="0" u="none">
                <a:solidFill>
                  <a:srgbClr val="151515"/>
                </a:solidFill>
                <a:latin typeface="Century Gothic"/>
              </a:rPr>
              <a:t>Plaso / Timesketch [6,7]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1056" y="2404872"/>
            <a:ext cx="1746504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Existing log parsing and forensic timeline tools.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8144" y="2404872"/>
            <a:ext cx="2011680" cy="24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Evaluate linked uncertainty, review and impact alerts.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2743200"/>
            <a:ext cx="5138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70" b="1" i="0" u="none">
                <a:solidFill>
                  <a:srgbClr val="0000DC"/>
                </a:solidFill>
                <a:latin typeface="Century Gothic"/>
              </a:rPr>
              <a:t>POSITIONING: established tools cover timelines [6,7]; cognitive-bias research [8] motivates staged review. TraceLens evaluates their connected use.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808329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502920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0" u="none">
                <a:solidFill>
                  <a:srgbClr val="555555"/>
                </a:solidFill>
                <a:latin typeface="Century Gothic"/>
              </a:rPr>
              <a:t>TraceLens links evidence collection, incident reconstruction and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640080"/>
            <a:ext cx="932688" cy="42976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70" b="1">
                <a:solidFill>
                  <a:srgbClr val="0000DC"/>
                </a:solidFill>
                <a:latin typeface="Century Gothic"/>
              </a:rPr>
              <a:t>COLLECT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90">
                <a:solidFill>
                  <a:srgbClr val="151515"/>
                </a:solidFill>
                <a:latin typeface="Century Gothic"/>
              </a:rPr>
              <a:t>Original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2436" y="722376"/>
            <a:ext cx="14630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640080"/>
            <a:ext cx="932688" cy="42976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70" b="1">
                <a:solidFill>
                  <a:srgbClr val="0000DC"/>
                </a:solidFill>
                <a:latin typeface="Century Gothic"/>
              </a:rPr>
              <a:t>PARSE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90">
                <a:solidFill>
                  <a:srgbClr val="151515"/>
                </a:solidFill>
                <a:latin typeface="Century Gothic"/>
              </a:rPr>
              <a:t>Two required 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0572" y="722376"/>
            <a:ext cx="14630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640080"/>
            <a:ext cx="932688" cy="42976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70" b="1">
                <a:solidFill>
                  <a:srgbClr val="0000DC"/>
                </a:solidFill>
                <a:latin typeface="Century Gothic"/>
              </a:rPr>
              <a:t>NORMALIZE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90">
                <a:solidFill>
                  <a:srgbClr val="151515"/>
                </a:solidFill>
                <a:latin typeface="Century Gothic"/>
              </a:rPr>
              <a:t>UTC +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722376"/>
            <a:ext cx="14630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640080"/>
            <a:ext cx="932688" cy="42976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70" b="1">
                <a:solidFill>
                  <a:srgbClr val="0000DC"/>
                </a:solidFill>
                <a:latin typeface="Century Gothic"/>
              </a:rPr>
              <a:t>CORRELATE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90">
                <a:solidFill>
                  <a:srgbClr val="151515"/>
                </a:solidFill>
                <a:latin typeface="Century Gothic"/>
              </a:rPr>
              <a:t>Source-linked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6844" y="722376"/>
            <a:ext cx="14630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640080"/>
            <a:ext cx="932688" cy="42976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70" b="1">
                <a:solidFill>
                  <a:srgbClr val="0000DC"/>
                </a:solidFill>
                <a:latin typeface="Century Gothic"/>
              </a:rPr>
              <a:t>REVIEW / EXPORT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90">
                <a:solidFill>
                  <a:srgbClr val="151515"/>
                </a:solidFill>
                <a:latin typeface="Century Gothic"/>
              </a:rPr>
              <a:t>Auditable findings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" y="1207008"/>
            <a:ext cx="1673352" cy="1271016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1271016"/>
            <a:ext cx="152704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15" b="1" i="0" u="none">
                <a:solidFill>
                  <a:srgbClr val="0000DC"/>
                </a:solidFill>
                <a:latin typeface="Century Gothic"/>
              </a:rPr>
              <a:t>01  TIME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1481328"/>
            <a:ext cx="149047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85" b="0" i="0" u="none">
                <a:solidFill>
                  <a:srgbClr val="151515"/>
                </a:solidFill>
                <a:latin typeface="Century Gothic"/>
              </a:rPr>
              <a:t>Keep the raw time, normalize known offsets to UTC, and model justified clock tolerance as a range.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" y="1828800"/>
            <a:ext cx="1545336" cy="566928"/>
          </a:xfrm>
          <a:prstGeom prst="roundRect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" y="1865376"/>
            <a:ext cx="1453896" cy="100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75" b="1" i="0" u="none">
                <a:solidFill>
                  <a:srgbClr val="0000DC"/>
                </a:solidFill>
                <a:latin typeface="Century Gothic"/>
              </a:rPr>
              <a:t>EXAMPLE  •  ASSUMED ±3 s CLOCK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1984248"/>
            <a:ext cx="1472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80" b="0" i="0" u="none">
                <a:solidFill>
                  <a:srgbClr val="151515"/>
                </a:solidFill>
                <a:latin typeface="Century Gothic"/>
              </a:rPr>
              <a:t>Host A: 10:00:02 → 09:59:59–10:00:05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80" b="0" i="0" u="none">
                <a:solidFill>
                  <a:srgbClr val="151515"/>
                </a:solidFill>
                <a:latin typeface="Century Gothic"/>
              </a:rPr>
              <a:t>Host B: 10:00:04 → 10:00:01–10:00:07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221992"/>
            <a:ext cx="1472184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90" b="1" i="0" u="none">
                <a:solidFill>
                  <a:srgbClr val="0000DC"/>
                </a:solidFill>
                <a:latin typeface="Century Gothic"/>
              </a:rPr>
              <a:t>Ranges overlap → order is uncertain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29968" y="1207008"/>
            <a:ext cx="1673352" cy="1271016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03120" y="1271016"/>
            <a:ext cx="152704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 u="none">
                <a:solidFill>
                  <a:srgbClr val="0000DC"/>
                </a:solidFill>
                <a:latin typeface="Century Gothic"/>
              </a:rPr>
              <a:t>02  BLINDLENS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1481328"/>
            <a:ext cx="149047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5" b="0" i="0" u="none">
                <a:solidFill>
                  <a:srgbClr val="151515"/>
                </a:solidFill>
                <a:latin typeface="Century Gothic"/>
              </a:rPr>
              <a:t>Record the first interpretation, reveal context, then save the revised view and the reason. “Unresolved” remains valid.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93976" y="1828800"/>
            <a:ext cx="1545336" cy="566928"/>
          </a:xfrm>
          <a:prstGeom prst="roundRect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39696" y="1865376"/>
            <a:ext cx="1453896" cy="100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65" b="1" i="0" u="none">
                <a:solidFill>
                  <a:srgbClr val="0000DC"/>
                </a:solidFill>
                <a:latin typeface="Century Gothic"/>
              </a:rPr>
              <a:t>EXAMPLE  •  CONTEXT CHANGES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1984248"/>
            <a:ext cx="1472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65" b="0" i="0" u="none">
                <a:solidFill>
                  <a:srgbClr val="151515"/>
                </a:solidFill>
                <a:latin typeface="Century Gothic"/>
              </a:rPr>
              <a:t>Before: “Suspicious deletion”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65" b="0" i="0" u="none">
                <a:solidFill>
                  <a:srgbClr val="151515"/>
                </a:solidFill>
                <a:latin typeface="Century Gothic"/>
              </a:rPr>
              <a:t>Ticket revealed: “Scheduled cleanup plausible”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0552" y="2221992"/>
            <a:ext cx="1472184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70" b="1" i="0" u="none">
                <a:solidFill>
                  <a:srgbClr val="0000DC"/>
                </a:solidFill>
                <a:latin typeface="Century Gothic"/>
              </a:rPr>
              <a:t>Record why; verify before concluding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1207008"/>
            <a:ext cx="1673352" cy="1271016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67912" y="1271016"/>
            <a:ext cx="152704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03  MUTATION RADAR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1481328"/>
            <a:ext cx="149047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5" b="0" i="0" u="none">
                <a:solidFill>
                  <a:srgbClr val="151515"/>
                </a:solidFill>
                <a:latin typeface="Century Gothic"/>
              </a:rPr>
              <a:t>Re-hash collected files against the protected baseline. Trace a mismatch to dependent events and findings.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58768" y="1828800"/>
            <a:ext cx="1545336" cy="566928"/>
          </a:xfrm>
          <a:prstGeom prst="roundRect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04487" y="1865376"/>
            <a:ext cx="1453896" cy="100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65" b="1" i="0" u="none">
                <a:solidFill>
                  <a:srgbClr val="0000DC"/>
                </a:solidFill>
                <a:latin typeface="Century Gothic"/>
              </a:rPr>
              <a:t>EXAMPLE  •  ILLUSTRATIVE HASHES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5344" y="1984248"/>
            <a:ext cx="1472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65" b="0" i="0" u="none">
                <a:solidFill>
                  <a:srgbClr val="151515"/>
                </a:solidFill>
                <a:latin typeface="Century Gothic"/>
              </a:rPr>
              <a:t>Saved: 3F9A…8C21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65" b="0" i="0" u="none">
                <a:solidFill>
                  <a:srgbClr val="151515"/>
                </a:solidFill>
                <a:latin typeface="Century Gothic"/>
              </a:rPr>
              <a:t>Recheck: 91D2…02BF → mismatch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95344" y="2221992"/>
            <a:ext cx="1472184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70" b="1" i="0" u="none">
                <a:solidFill>
                  <a:srgbClr val="0000DC"/>
                </a:solidFill>
                <a:latin typeface="Century Gothic"/>
              </a:rPr>
              <a:t>Events E12/E13 → review required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5176" y="2587752"/>
            <a:ext cx="5221224" cy="0"/>
          </a:xfrm>
          <a:prstGeom prst="line">
            <a:avLst/>
          </a:prstGeom>
          <a:ln w="10160">
            <a:solidFill>
              <a:srgbClr val="AAB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74320" y="2660904"/>
            <a:ext cx="5138928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5" b="1" i="0" u="none">
                <a:solidFill>
                  <a:srgbClr val="151515"/>
                </a:solidFill>
                <a:latin typeface="Century Gothic"/>
              </a:rPr>
              <a:t>CORE PIPELINE: preserve • verify • two parsers • ledger • UTC • searchable viewer • export • benchmark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862072"/>
            <a:ext cx="513892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90" b="0" i="1" u="none">
                <a:solidFill>
                  <a:srgbClr val="555555"/>
                </a:solidFill>
                <a:latin typeface="Century Gothic"/>
              </a:rPr>
              <a:t>A warning triggers review; it does not prove malicious tampering, causation or guilt.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998524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Solution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Solution Optimization &amp;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502920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0" u="none">
                <a:solidFill>
                  <a:srgbClr val="555555"/>
                </a:solidFill>
                <a:latin typeface="Century Gothic"/>
              </a:rPr>
              <a:t>Compare the baseline workflow with the proposed review mechanisms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640080"/>
            <a:ext cx="5230368" cy="228600"/>
          </a:xfrm>
          <a:prstGeom prst="rect">
            <a:avLst/>
          </a:prstGeom>
          <a:solidFill>
            <a:srgbClr val="E9EEFF"/>
          </a:solidFill>
          <a:ln w="9525">
            <a:solidFill>
              <a:srgbClr val="E9EE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1" y="672084"/>
            <a:ext cx="126187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 u="none">
                <a:solidFill>
                  <a:srgbClr val="0000DC"/>
                </a:solidFill>
                <a:latin typeface="Century Gothic"/>
              </a:rPr>
              <a:t>BASIC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6" y="672084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 u="none">
                <a:solidFill>
                  <a:srgbClr val="0000DC"/>
                </a:solidFill>
                <a:latin typeface="Century Gothic"/>
              </a:rPr>
              <a:t>TRACE LENS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672084"/>
            <a:ext cx="140817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1" i="0" u="none">
                <a:solidFill>
                  <a:srgbClr val="0000DC"/>
                </a:solidFill>
                <a:latin typeface="Century Gothic"/>
              </a:rPr>
              <a:t>MEASURE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868680"/>
            <a:ext cx="5230368" cy="333756"/>
          </a:xfrm>
          <a:prstGeom prst="rect">
            <a:avLst/>
          </a:prstGeom>
          <a:solidFill>
            <a:srgbClr val="FAFBFE"/>
          </a:solidFill>
          <a:ln w="9525">
            <a:solidFill>
              <a:srgbClr val="FAFBF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265176" y="1202436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1751" y="900684"/>
            <a:ext cx="1261872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Sort displayed times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776" y="900684"/>
            <a:ext cx="233172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Preserve raw time; normalize known offsets; flag overlapping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900684"/>
            <a:ext cx="1408176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Conversion tests; ambiguous-order precision/recall.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" y="1536192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1751" y="1234439"/>
            <a:ext cx="1261872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Unlinked parsed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6776" y="1234439"/>
            <a:ext cx="233172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Attach evidence ID and source record to each event.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1234439"/>
            <a:ext cx="1408176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Source-traceability rate.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1536192"/>
            <a:ext cx="5230368" cy="333756"/>
          </a:xfrm>
          <a:prstGeom prst="rect">
            <a:avLst/>
          </a:prstGeom>
          <a:solidFill>
            <a:srgbClr val="FAFBFE"/>
          </a:solidFill>
          <a:ln w="9525">
            <a:solidFill>
              <a:srgbClr val="FAFBF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265176" y="1869948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1751" y="1568195"/>
            <a:ext cx="1261872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Manual hash checking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776" y="1568195"/>
            <a:ext cx="233172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Verify baseline hashes; map changed files to dependent findings.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1648" y="1568195"/>
            <a:ext cx="1408176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Change-detection and impact-map precision/recall.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" y="2203704"/>
            <a:ext cx="5221224" cy="0"/>
          </a:xfrm>
          <a:prstGeom prst="line">
            <a:avLst/>
          </a:prstGeom>
          <a:ln w="444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1751" y="1901952"/>
            <a:ext cx="1261872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Store only final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36776" y="1901952"/>
            <a:ext cx="2331720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Keep initial and revised BlindLens assessment with reason.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1901952"/>
            <a:ext cx="1408176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35" b="0" i="0" u="none">
                <a:solidFill>
                  <a:srgbClr val="151515"/>
                </a:solidFill>
                <a:latin typeface="Century Gothic"/>
              </a:rPr>
              <a:t>Review-record completeness; triage time vs manual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267712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THREE CONTROLLED SYNTHETIC SCENARIOS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" y="2468880"/>
            <a:ext cx="1673352" cy="38404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50" b="1">
                <a:solidFill>
                  <a:srgbClr val="0000DC"/>
                </a:solidFill>
                <a:latin typeface="Century Gothic"/>
              </a:rPr>
              <a:t>A  NORMAL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85">
                <a:solidFill>
                  <a:srgbClr val="151515"/>
                </a:solidFill>
                <a:latin typeface="Century Gothic"/>
              </a:rPr>
              <a:t>Known events across log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29968" y="2468880"/>
            <a:ext cx="1673352" cy="38404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50" b="1">
                <a:solidFill>
                  <a:srgbClr val="0000DC"/>
                </a:solidFill>
                <a:latin typeface="Century Gothic"/>
              </a:rPr>
              <a:t>B  CLOCK SKEW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85">
                <a:solidFill>
                  <a:srgbClr val="151515"/>
                </a:solidFill>
                <a:latin typeface="Century Gothic"/>
              </a:rPr>
              <a:t>Uncertain / overlapping time ranges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2468880"/>
            <a:ext cx="1673352" cy="38404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50" b="1">
                <a:solidFill>
                  <a:srgbClr val="0000DC"/>
                </a:solidFill>
                <a:latin typeface="Century Gothic"/>
              </a:rPr>
              <a:t>C  CHANGED FILE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85">
                <a:solidFill>
                  <a:srgbClr val="151515"/>
                </a:solidFill>
                <a:latin typeface="Century Gothic"/>
              </a:rPr>
              <a:t>File modified after hash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898648"/>
            <a:ext cx="513892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90" b="0" i="0" u="none">
                <a:solidFill>
                  <a:srgbClr val="555555"/>
                </a:solidFill>
                <a:latin typeface="Century Gothic"/>
              </a:rPr>
              <a:t>Report measured parsing accuracy, source traceability, hash detection, ambiguity handling and median triage time. Results are pending implementation.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137160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Architecture Design (UML Diagram)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Evidence Spine &amp; Review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502920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0" u="none">
                <a:solidFill>
                  <a:srgbClr val="555555"/>
                </a:solidFill>
                <a:latin typeface="Century Gothic"/>
              </a:rPr>
              <a:t>One preserved source of truth; three review mechanisms connect back to the same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768096"/>
            <a:ext cx="932688" cy="457200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10" b="1">
                <a:solidFill>
                  <a:srgbClr val="0000DC"/>
                </a:solidFill>
                <a:latin typeface="Century Gothic"/>
              </a:rPr>
              <a:t>LOG SOURCES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45">
                <a:solidFill>
                  <a:srgbClr val="151515"/>
                </a:solidFill>
                <a:latin typeface="Century Gothic"/>
              </a:rPr>
              <a:t>Host / app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2436" y="87782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" y="768096"/>
            <a:ext cx="932688" cy="4572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10" b="1">
                <a:solidFill>
                  <a:srgbClr val="0000DC"/>
                </a:solidFill>
                <a:latin typeface="Century Gothic"/>
              </a:rPr>
              <a:t>PRESERVE + HASH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45">
                <a:solidFill>
                  <a:srgbClr val="151515"/>
                </a:solidFill>
                <a:latin typeface="Century Gothic"/>
              </a:rPr>
              <a:t>Original + ID + SHA-256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1428" y="87782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768096"/>
            <a:ext cx="932688" cy="457200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10" b="1">
                <a:solidFill>
                  <a:srgbClr val="0000DC"/>
                </a:solidFill>
                <a:latin typeface="Century Gothic"/>
              </a:rPr>
              <a:t>PARSERS A / B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45">
                <a:solidFill>
                  <a:srgbClr val="151515"/>
                </a:solidFill>
                <a:latin typeface="Century Gothic"/>
              </a:rPr>
              <a:t>Two required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87782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768096"/>
            <a:ext cx="932688" cy="4572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10" b="1">
                <a:solidFill>
                  <a:srgbClr val="0000DC"/>
                </a:solidFill>
                <a:latin typeface="Century Gothic"/>
              </a:rPr>
              <a:t>TIMELINE CORE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45">
                <a:solidFill>
                  <a:srgbClr val="151515"/>
                </a:solidFill>
                <a:latin typeface="Century Gothic"/>
              </a:rPr>
              <a:t>UTC + time ranges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9412" y="87782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1144" y="768096"/>
            <a:ext cx="932688" cy="457200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10" b="1">
                <a:solidFill>
                  <a:srgbClr val="0000DC"/>
                </a:solidFill>
                <a:latin typeface="Century Gothic"/>
              </a:rPr>
              <a:t>INVESTIGATOR VIEW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45">
                <a:solidFill>
                  <a:srgbClr val="151515"/>
                </a:solidFill>
                <a:latin typeface="Century Gothic"/>
              </a:rPr>
              <a:t>Search +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1307592"/>
            <a:ext cx="196596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1" i="0" u="none">
                <a:solidFill>
                  <a:srgbClr val="0000DC"/>
                </a:solidFill>
                <a:latin typeface="Century Gothic"/>
              </a:rPr>
              <a:t>SHARED TRACEABILITY 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" y="1444752"/>
            <a:ext cx="5029200" cy="329184"/>
          </a:xfrm>
          <a:prstGeom prst="roundRect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1499616"/>
            <a:ext cx="4864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151515"/>
                </a:solidFill>
                <a:latin typeface="Century Gothic"/>
              </a:rPr>
              <a:t>Evidence file  →  source record  →  timeline event  →  investigation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1234440"/>
            <a:ext cx="18288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 i="0" u="none">
                <a:solidFill>
                  <a:srgbClr val="0000DC"/>
                </a:solidFill>
                <a:latin typeface="Century Gothic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1773936"/>
            <a:ext cx="16459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70" b="1" i="0" u="none">
                <a:solidFill>
                  <a:srgbClr val="0000DC"/>
                </a:solidFill>
                <a:latin typeface="Century Gothic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773936"/>
            <a:ext cx="16459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70" b="1" i="0" u="none">
                <a:solidFill>
                  <a:srgbClr val="0000DC"/>
                </a:solidFill>
                <a:latin typeface="Century Gothic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1773936"/>
            <a:ext cx="16459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70" b="1" i="0" u="none">
                <a:solidFill>
                  <a:srgbClr val="0000DC"/>
                </a:solidFill>
                <a:latin typeface="Century Gothic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" y="1911095"/>
            <a:ext cx="1673352" cy="61264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45" b="1">
                <a:solidFill>
                  <a:srgbClr val="0000DC"/>
                </a:solidFill>
                <a:latin typeface="Century Gothic"/>
              </a:rPr>
              <a:t>TIME MODEL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65">
                <a:solidFill>
                  <a:srgbClr val="151515"/>
                </a:solidFill>
                <a:latin typeface="Century Gothic"/>
              </a:rPr>
              <a:t>Raw timestamp → UTC + justified interval. Overlap means event order may be unresolved.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29968" y="1911095"/>
            <a:ext cx="1673352" cy="612648"/>
          </a:xfrm>
          <a:prstGeom prst="roundRect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45" b="1">
                <a:solidFill>
                  <a:srgbClr val="0000DC"/>
                </a:solidFill>
                <a:latin typeface="Century Gothic"/>
              </a:rPr>
              <a:t>MUTATION IMPACT MAP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65">
                <a:solidFill>
                  <a:srgbClr val="151515"/>
                </a:solidFill>
                <a:latin typeface="Century Gothic"/>
              </a:rPr>
              <a:t>Recheck the recorded hash; identify dependent events and findings that need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1911095"/>
            <a:ext cx="1673352" cy="612648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45" b="1">
                <a:solidFill>
                  <a:srgbClr val="0000DC"/>
                </a:solidFill>
                <a:latin typeface="Century Gothic"/>
              </a:rPr>
              <a:t>BLINDLENS REVIEW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565">
                <a:solidFill>
                  <a:srgbClr val="151515"/>
                </a:solidFill>
                <a:latin typeface="Century Gothic"/>
              </a:rPr>
              <a:t>Record the initial assessment, reveal context, then log the revised assessment and reason.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2523744"/>
            <a:ext cx="201168" cy="118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u="none">
                <a:solidFill>
                  <a:srgbClr val="0000DC"/>
                </a:solidFill>
                <a:latin typeface="Century Gothic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2670048"/>
            <a:ext cx="4791456" cy="201168"/>
          </a:xfrm>
          <a:prstGeom prst="roundRect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2692908"/>
            <a:ext cx="4608576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55" b="1" i="0" u="none">
                <a:solidFill>
                  <a:srgbClr val="151515"/>
                </a:solidFill>
                <a:latin typeface="Century Gothic"/>
              </a:rPr>
              <a:t>HUMAN REVIEW GATE  •  unresolved stays unresolved  •  integrity mismatch flags review  •  export states limitations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" y="2898648"/>
            <a:ext cx="516636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45" b="0" i="1" u="none">
                <a:solidFill>
                  <a:srgbClr val="555555"/>
                </a:solidFill>
                <a:latin typeface="Century Gothic"/>
              </a:rPr>
              <a:t>Original files are not silently overwritten; every event and finding retains source links where available.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808329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Data Flow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2920"/>
            <a:ext cx="521208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0" i="0" u="none">
                <a:solidFill>
                  <a:srgbClr val="555555"/>
                </a:solidFill>
                <a:latin typeface="Century Gothic"/>
              </a:rPr>
              <a:t>Evidence is preserved once; D1/D2 are referenced across processing and review stages.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731520"/>
            <a:ext cx="5230368" cy="566928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E5E9F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" y="1380744"/>
            <a:ext cx="5230368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9F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6032" y="2057400"/>
            <a:ext cx="5230368" cy="694944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E5E9F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" y="795528"/>
            <a:ext cx="530352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35" b="1" i="0" u="none">
                <a:solidFill>
                  <a:srgbClr val="0000DC"/>
                </a:solidFill>
                <a:latin typeface="Century Gothic"/>
              </a:rPr>
              <a:t>01 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1481328"/>
            <a:ext cx="530352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35" b="1" i="0" u="none">
                <a:solidFill>
                  <a:srgbClr val="0000DC"/>
                </a:solidFill>
                <a:latin typeface="Century Gothic"/>
              </a:rPr>
              <a:t>02 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121408"/>
            <a:ext cx="530352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35" b="1" i="0" u="none">
                <a:solidFill>
                  <a:srgbClr val="0000DC"/>
                </a:solidFill>
                <a:latin typeface="Century Gothic"/>
              </a:rPr>
              <a:t>03 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795528"/>
            <a:ext cx="79552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80" b="1">
                <a:solidFill>
                  <a:srgbClr val="0000DC"/>
                </a:solidFill>
                <a:latin typeface="Century Gothic"/>
              </a:rPr>
              <a:t>E: LOG SOURCES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500">
                <a:solidFill>
                  <a:srgbClr val="151515"/>
                </a:solidFill>
                <a:latin typeface="Century Gothic"/>
              </a:rPr>
              <a:t>Host + app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914400"/>
            <a:ext cx="13716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795528"/>
            <a:ext cx="1097280" cy="411480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90" b="1">
                <a:solidFill>
                  <a:srgbClr val="0000DC"/>
                </a:solidFill>
                <a:latin typeface="Century Gothic"/>
              </a:rPr>
              <a:t>P1  COLLECT + SEAL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90">
                <a:solidFill>
                  <a:srgbClr val="151515"/>
                </a:solidFill>
                <a:latin typeface="Century Gothic"/>
              </a:rPr>
              <a:t>Evidence ID • time • SHA-256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914400"/>
            <a:ext cx="13716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8" name="Can 17"/>
          <p:cNvSpPr/>
          <p:nvPr/>
        </p:nvSpPr>
        <p:spPr>
          <a:xfrm>
            <a:off x="3108960" y="777240"/>
            <a:ext cx="1170432" cy="448056"/>
          </a:xfrm>
          <a:prstGeom prst="can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80" b="1">
                <a:solidFill>
                  <a:srgbClr val="0000DC"/>
                </a:solidFill>
                <a:latin typeface="Century Gothic"/>
              </a:rPr>
              <a:t>D1  EVIDENCE VAULT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90">
                <a:solidFill>
                  <a:srgbClr val="151515"/>
                </a:solidFill>
                <a:latin typeface="Century Gothic"/>
              </a:rPr>
              <a:t>Original files +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822960"/>
            <a:ext cx="987552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 i="0" u="none">
                <a:solidFill>
                  <a:srgbClr val="555555"/>
                </a:solidFill>
                <a:latin typeface="Century Gothic"/>
              </a:rPr>
              <a:t>BASELINE METADATA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 i="0" u="none">
                <a:solidFill>
                  <a:srgbClr val="555555"/>
                </a:solidFill>
                <a:latin typeface="Century Gothic"/>
              </a:rPr>
              <a:t>Collection UTC • hash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 i="0" u="none">
                <a:solidFill>
                  <a:srgbClr val="555555"/>
                </a:solidFill>
                <a:latin typeface="Century Gothic"/>
              </a:rPr>
              <a:t>Original stays preserved</a:t>
            </a:r>
          </a:p>
        </p:txBody>
      </p:sp>
      <p:sp>
        <p:nvSpPr>
          <p:cNvPr id="20" name="Can 19"/>
          <p:cNvSpPr/>
          <p:nvPr/>
        </p:nvSpPr>
        <p:spPr>
          <a:xfrm>
            <a:off x="877824" y="1508760"/>
            <a:ext cx="786384" cy="393192"/>
          </a:xfrm>
          <a:prstGeom prst="can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60" b="1">
                <a:solidFill>
                  <a:srgbClr val="0000DC"/>
                </a:solidFill>
                <a:latin typeface="Century Gothic"/>
              </a:rPr>
              <a:t>D1  READ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80">
                <a:solidFill>
                  <a:srgbClr val="151515"/>
                </a:solidFill>
                <a:latin typeface="Century Gothic"/>
              </a:rPr>
              <a:t>Preserved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6" y="1618488"/>
            <a:ext cx="11887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1508760"/>
            <a:ext cx="859536" cy="393192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70" b="1">
                <a:solidFill>
                  <a:srgbClr val="0000DC"/>
                </a:solidFill>
                <a:latin typeface="Century Gothic"/>
              </a:rPr>
              <a:t>P2  PARSE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90">
                <a:solidFill>
                  <a:srgbClr val="151515"/>
                </a:solidFill>
                <a:latin typeface="Century Gothic"/>
              </a:rPr>
              <a:t>Format A +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6624" y="1618488"/>
            <a:ext cx="11887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43784" y="1508760"/>
            <a:ext cx="1024128" cy="393192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60" b="1">
                <a:solidFill>
                  <a:srgbClr val="0000DC"/>
                </a:solidFill>
                <a:latin typeface="Century Gothic"/>
              </a:rPr>
              <a:t>P3  TIME MODEL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80">
                <a:solidFill>
                  <a:srgbClr val="151515"/>
                </a:solidFill>
                <a:latin typeface="Century Gothic"/>
              </a:rPr>
              <a:t>Raw + UTC +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1618488"/>
            <a:ext cx="11887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26" name="Can 25"/>
          <p:cNvSpPr/>
          <p:nvPr/>
        </p:nvSpPr>
        <p:spPr>
          <a:xfrm>
            <a:off x="4032504" y="1490472"/>
            <a:ext cx="1307592" cy="429768"/>
          </a:xfrm>
          <a:prstGeom prst="can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70" b="1">
                <a:solidFill>
                  <a:srgbClr val="0000DC"/>
                </a:solidFill>
                <a:latin typeface="Century Gothic"/>
              </a:rPr>
              <a:t>D2  EVENT STORE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70">
                <a:solidFill>
                  <a:srgbClr val="151515"/>
                </a:solidFill>
                <a:latin typeface="Century Gothic"/>
              </a:rPr>
              <a:t>Searchable, source-linked timeline</a:t>
            </a:r>
          </a:p>
        </p:txBody>
      </p:sp>
      <p:sp>
        <p:nvSpPr>
          <p:cNvPr id="27" name="Can 26"/>
          <p:cNvSpPr/>
          <p:nvPr/>
        </p:nvSpPr>
        <p:spPr>
          <a:xfrm>
            <a:off x="877824" y="2194560"/>
            <a:ext cx="850392" cy="429768"/>
          </a:xfrm>
          <a:prstGeom prst="can">
            <a:avLst/>
          </a:prstGeom>
          <a:solidFill>
            <a:srgbClr val="E9EE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60" b="1">
                <a:solidFill>
                  <a:srgbClr val="0000DC"/>
                </a:solidFill>
                <a:latin typeface="Century Gothic"/>
              </a:rPr>
              <a:t>D1 + D2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80">
                <a:solidFill>
                  <a:srgbClr val="151515"/>
                </a:solidFill>
                <a:latin typeface="Century Gothic"/>
              </a:rPr>
              <a:t>Evidence +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504" y="2322576"/>
            <a:ext cx="128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01952" y="2121408"/>
            <a:ext cx="2249424" cy="5577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AB9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2139696"/>
            <a:ext cx="2066543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35" b="1" i="0" u="none">
                <a:solidFill>
                  <a:srgbClr val="0000DC"/>
                </a:solidFill>
                <a:latin typeface="Century Gothic"/>
              </a:rPr>
              <a:t>P4  PARALLEL REVIEW 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84248" y="2276856"/>
            <a:ext cx="969264" cy="320040"/>
          </a:xfrm>
          <a:prstGeom prst="roundRect">
            <a:avLst/>
          </a:prstGeom>
          <a:solidFill>
            <a:srgbClr val="F8F9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45" b="1">
                <a:solidFill>
                  <a:srgbClr val="0000DC"/>
                </a:solidFill>
                <a:latin typeface="Century Gothic"/>
              </a:rPr>
              <a:t>BLINDLENS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59">
                <a:solidFill>
                  <a:srgbClr val="151515"/>
                </a:solidFill>
                <a:latin typeface="Century Gothic"/>
              </a:rPr>
              <a:t>Initial → revised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54096" y="2276856"/>
            <a:ext cx="1005840" cy="320040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25" b="1">
                <a:solidFill>
                  <a:srgbClr val="0000DC"/>
                </a:solidFill>
                <a:latin typeface="Century Gothic"/>
              </a:rPr>
              <a:t>MUTATION RADAR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59">
                <a:solidFill>
                  <a:srgbClr val="151515"/>
                </a:solidFill>
                <a:latin typeface="Century Gothic"/>
              </a:rPr>
              <a:t>Hash → impact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322576"/>
            <a:ext cx="12801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34" name="Parallelogram 33"/>
          <p:cNvSpPr/>
          <p:nvPr/>
        </p:nvSpPr>
        <p:spPr>
          <a:xfrm>
            <a:off x="4315968" y="2194560"/>
            <a:ext cx="1024128" cy="429768"/>
          </a:xfrm>
          <a:prstGeom prst="parallelogram">
            <a:avLst/>
          </a:prstGeom>
          <a:solidFill>
            <a:srgbClr val="FFFFFF"/>
          </a:solidFill>
          <a:ln w="9525">
            <a:solidFill>
              <a:srgbClr val="AAB9FF"/>
            </a:solidFill>
          </a:ln>
        </p:spPr>
        <p:txBody>
          <a:bodyPr wrap="square" lIns="32004" tIns="16459" rIns="32004" bIns="16459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545" b="1">
                <a:solidFill>
                  <a:srgbClr val="0000DC"/>
                </a:solidFill>
                <a:latin typeface="Century Gothic"/>
              </a:rPr>
              <a:t>P5  HUMAN REVIEW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45">
                <a:solidFill>
                  <a:srgbClr val="151515"/>
                </a:solidFill>
                <a:latin typeface="Century Gothic"/>
              </a:rPr>
              <a:t>Findings • caveats
Export + benchmark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" y="2816352"/>
            <a:ext cx="5157216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5" b="0" i="0" u="none">
                <a:solidFill>
                  <a:srgbClr val="555555"/>
                </a:solidFill>
                <a:latin typeface="Century Gothic"/>
              </a:rPr>
              <a:t>KEY: rectangle = source • rounded block = process • cylinder = data store • arrows = data flow. Hash mismatch flags review; it does not prove intent.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903427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Deployment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09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Deployment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530352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 u="none">
                <a:solidFill>
                  <a:srgbClr val="555555"/>
                </a:solidFill>
                <a:latin typeface="Century Gothic"/>
              </a:rPr>
              <a:t>Build milestones are proposed and will be refined after mentor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841248"/>
            <a:ext cx="960120" cy="1033271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60" b="1">
                <a:solidFill>
                  <a:srgbClr val="0000DC"/>
                </a:solidFill>
                <a:latin typeface="Century Gothic"/>
              </a:rPr>
              <a:t>DAYS 1–2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00">
                <a:solidFill>
                  <a:srgbClr val="151515"/>
                </a:solidFill>
                <a:latin typeface="Century Gothic"/>
              </a:rPr>
              <a:t>Collect + ledger
Evidence IDs, original files, hashes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694944"/>
            <a:ext cx="9601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1" i="0" u="none">
                <a:solidFill>
                  <a:srgbClr val="0000DC"/>
                </a:solidFill>
                <a:latin typeface="Century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9868" y="1170432"/>
            <a:ext cx="1005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5024" y="841248"/>
            <a:ext cx="960120" cy="1033271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60" b="1">
                <a:solidFill>
                  <a:srgbClr val="0000DC"/>
                </a:solidFill>
                <a:latin typeface="Century Gothic"/>
              </a:rPr>
              <a:t>DAYS 3–5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00">
                <a:solidFill>
                  <a:srgbClr val="151515"/>
                </a:solidFill>
                <a:latin typeface="Century Gothic"/>
              </a:rPr>
              <a:t>Parsers + schema
Two required formats, source offsets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694944"/>
            <a:ext cx="9601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1" i="0" u="none">
                <a:solidFill>
                  <a:srgbClr val="0000DC"/>
                </a:solidFill>
                <a:latin typeface="Century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9715" y="1170432"/>
            <a:ext cx="1005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841248"/>
            <a:ext cx="960120" cy="1033271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60" b="1">
                <a:solidFill>
                  <a:srgbClr val="0000DC"/>
                </a:solidFill>
                <a:latin typeface="Century Gothic"/>
              </a:rPr>
              <a:t>DAYS 6–8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00">
                <a:solidFill>
                  <a:srgbClr val="151515"/>
                </a:solidFill>
                <a:latin typeface="Century Gothic"/>
              </a:rPr>
              <a:t>UTC + timeline
Time uncertainty, searchable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694944"/>
            <a:ext cx="9601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1" i="0" u="none">
                <a:solidFill>
                  <a:srgbClr val="0000DC"/>
                </a:solidFill>
                <a:latin typeface="Century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9563" y="1170432"/>
            <a:ext cx="1005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841248"/>
            <a:ext cx="960120" cy="1033271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60" b="1">
                <a:solidFill>
                  <a:srgbClr val="0000DC"/>
                </a:solidFill>
                <a:latin typeface="Century Gothic"/>
              </a:rPr>
              <a:t>DAYS 9–11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00">
                <a:solidFill>
                  <a:srgbClr val="151515"/>
                </a:solidFill>
                <a:latin typeface="Century Gothic"/>
              </a:rPr>
              <a:t>Review features
BlindLens + mutation impact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694944"/>
            <a:ext cx="9601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1" i="0" u="none">
                <a:solidFill>
                  <a:srgbClr val="0000DC"/>
                </a:solidFill>
                <a:latin typeface="Century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9412" y="1170432"/>
            <a:ext cx="1005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841248"/>
            <a:ext cx="960120" cy="1033271"/>
          </a:xfrm>
          <a:prstGeom prst="roundRect">
            <a:avLst/>
          </a:prstGeom>
          <a:solidFill>
            <a:srgbClr val="F4F6FF"/>
          </a:solidFill>
          <a:ln w="9525">
            <a:solidFill>
              <a:srgbClr val="AAB9FF"/>
            </a:solidFill>
          </a:ln>
        </p:spPr>
        <p:txBody>
          <a:bodyPr wrap="square" lIns="50292" tIns="36576" rIns="50292" bIns="27432" rtlCol="0" anchor="ctr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660" b="1">
                <a:solidFill>
                  <a:srgbClr val="0000DC"/>
                </a:solidFill>
                <a:latin typeface="Century Gothic"/>
              </a:rPr>
              <a:t>DAYS 12–15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600">
                <a:solidFill>
                  <a:srgbClr val="151515"/>
                </a:solidFill>
                <a:latin typeface="Century Gothic"/>
              </a:rPr>
              <a:t>Test + package
3 scenarios, benchmark, exports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694944"/>
            <a:ext cx="9601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0" b="1" i="0" u="none">
                <a:solidFill>
                  <a:srgbClr val="0000DC"/>
                </a:solidFill>
                <a:latin typeface="Century Gothic"/>
              </a:rPr>
              <a:t>05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" y="2039112"/>
            <a:ext cx="5221224" cy="0"/>
          </a:xfrm>
          <a:prstGeom prst="line">
            <a:avLst/>
          </a:prstGeom>
          <a:ln w="10160">
            <a:solidFill>
              <a:srgbClr val="AAB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20" y="2139696"/>
            <a:ext cx="24231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LEVEL 1 • CURRENT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359152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 u="none">
                <a:solidFill>
                  <a:srgbClr val="151515"/>
                </a:solidFill>
                <a:latin typeface="Century Gothic"/>
              </a:rPr>
              <a:t>Presentation PDF, team introduction video, and all repository setup steps.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2072" y="2139696"/>
            <a:ext cx="257860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 u="none">
                <a:solidFill>
                  <a:srgbClr val="0000DC"/>
                </a:solidFill>
                <a:latin typeface="Century Gothic"/>
              </a:rPr>
              <a:t>LEVEL 2 • AFTER QUALIFICATION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2359152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 u="none">
                <a:solidFill>
                  <a:srgbClr val="151515"/>
                </a:solidFill>
                <a:latin typeface="Century Gothic"/>
              </a:rPr>
              <a:t>Implement, test, submit code and provide the working demo as required by later steps.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862072"/>
            <a:ext cx="513892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 i="1" u="none">
                <a:solidFill>
                  <a:srgbClr val="555555"/>
                </a:solidFill>
                <a:latin typeface="Century Gothic"/>
              </a:rPr>
              <a:t>Scope: local log evidence and transparent triage; no endpoint takeover, malware removal or forensic certification claims.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720" y="109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AIORI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8064" y="10972"/>
            <a:ext cx="570585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20" b="1" i="0" u="sng">
                <a:solidFill>
                  <a:srgbClr val="0000DC"/>
                </a:solidFill>
                <a:latin typeface="Century Gothic"/>
              </a:rP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3049524"/>
            <a:ext cx="3200400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Threat Tracers  •  A3-PS013-TC208  •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0495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70" b="0" i="0" u="none">
                <a:solidFill>
                  <a:srgbClr val="0000DC"/>
                </a:solidFill>
                <a:latin typeface="Century Gothic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201168"/>
            <a:ext cx="52852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u="none">
                <a:solidFill>
                  <a:srgbClr val="0000DC"/>
                </a:solidFill>
                <a:latin typeface="Century Gothic"/>
              </a:rPr>
              <a:t>Bibliography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502920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0" u="none">
                <a:solidFill>
                  <a:srgbClr val="555555"/>
                </a:solidFill>
                <a:latin typeface="Century Gothic"/>
              </a:rPr>
              <a:t>Selected standards, research and existing tools cited in this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[1] NIST SP 800-92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13816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Guide to Computer Security Log Management (2006).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88136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csrc.nist.gov/pubs/</a:t>
            </a:r>
            <a:r>
              <a:rPr sz="560" b="0" i="0" u="none" dirty="0" err="1">
                <a:solidFill>
                  <a:srgbClr val="254FB8"/>
                </a:solidFill>
                <a:latin typeface="Century Gothic"/>
              </a:rPr>
              <a:t>sp</a:t>
            </a: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/800/92/final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07007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[2] NIST SP 800-86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362455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Guide to Integrating Forensic Techniques into Incident Response (2006).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36775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csrc.nist.gov/pubs/</a:t>
            </a:r>
            <a:r>
              <a:rPr sz="560" b="0" i="0" u="none" dirty="0" err="1">
                <a:solidFill>
                  <a:srgbClr val="254FB8"/>
                </a:solidFill>
                <a:latin typeface="Century Gothic"/>
              </a:rPr>
              <a:t>sp</a:t>
            </a: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/800/86/final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755648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[3] RFC 3227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911095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Guidelines for Evidence Collection and Archiving (2002).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185415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>
                <a:solidFill>
                  <a:srgbClr val="254FB8"/>
                </a:solidFill>
                <a:latin typeface="Century Gothic"/>
              </a:rPr>
              <a:t>rfc-editor.org/rfc/rfc3227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304288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[4] RFC 3339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459736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Date and Time on the Internet: Timestamps (2002).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734056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>
                <a:solidFill>
                  <a:srgbClr val="254FB8"/>
                </a:solidFill>
                <a:latin typeface="Century Gothic"/>
              </a:rPr>
              <a:t>rfc-editor.org/rfc/rfc3339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658368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[5] NIST FIPS 180-4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813816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Secure Hash Standard (2015; update 1).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1088136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csrc.nist.gov/pubs/</a:t>
            </a:r>
            <a:r>
              <a:rPr sz="560" b="0" i="0" u="none" dirty="0" err="1">
                <a:solidFill>
                  <a:srgbClr val="254FB8"/>
                </a:solidFill>
                <a:latin typeface="Century Gothic"/>
              </a:rPr>
              <a:t>fips</a:t>
            </a: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/180-4/upd1/final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1207007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[6] Plaso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1362455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Log2Timeline parser framework and super-timeline workflow.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1636775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plaso.readthedocs.io/</a:t>
            </a:r>
            <a:r>
              <a:rPr sz="560" b="0" i="0" u="none" dirty="0" err="1">
                <a:solidFill>
                  <a:srgbClr val="254FB8"/>
                </a:solidFill>
                <a:latin typeface="Century Gothic"/>
              </a:rPr>
              <a:t>en</a:t>
            </a:r>
            <a:r>
              <a:rPr sz="560" b="0" i="0" u="none" dirty="0">
                <a:solidFill>
                  <a:srgbClr val="254FB8"/>
                </a:solidFill>
                <a:latin typeface="Century Gothic"/>
              </a:rPr>
              <a:t>/latest/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1755648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[7] Timesketch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1911095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Open-source collaborative forensic timeline analysis.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2185415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>
                <a:solidFill>
                  <a:srgbClr val="254FB8"/>
                </a:solidFill>
                <a:latin typeface="Century Gothic"/>
              </a:rPr>
              <a:t>timesketch.org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2304288"/>
            <a:ext cx="24871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 i="0" u="none">
                <a:solidFill>
                  <a:srgbClr val="0000DC"/>
                </a:solidFill>
                <a:latin typeface="Century Gothic"/>
              </a:rPr>
              <a:t>[8] Sunde &amp; Dror (2019)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2459736"/>
            <a:ext cx="24871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15" b="0" i="0" u="none">
                <a:solidFill>
                  <a:srgbClr val="151515"/>
                </a:solidFill>
                <a:latin typeface="Century Gothic"/>
              </a:rPr>
              <a:t>Cognitive and human factors in digital forensics: Problems, challenges, and the way forward. Digital Investigation, 29, 101–108.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2734056"/>
            <a:ext cx="24871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60" b="0" i="0" u="none">
                <a:solidFill>
                  <a:srgbClr val="254FB8"/>
                </a:solidFill>
                <a:latin typeface="Century Gothic"/>
              </a:rPr>
              <a:t>doi.org/10.1016/j.diin.2019.03.011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" y="2880360"/>
            <a:ext cx="5212080" cy="0"/>
          </a:xfrm>
          <a:prstGeom prst="line">
            <a:avLst/>
          </a:prstGeom>
          <a:ln w="5715">
            <a:solidFill>
              <a:srgbClr val="D5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2907792"/>
            <a:ext cx="5166360" cy="100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35" b="0" i="1" u="none">
                <a:solidFill>
                  <a:srgbClr val="555555"/>
                </a:solidFill>
                <a:latin typeface="Century Gothic"/>
              </a:rPr>
              <a:t>Positioning note: existing tools cover much of the base workflow; TraceLens evaluates connected review mechanisms.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024128"/>
            <a:ext cx="47548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 u="none">
                <a:solidFill>
                  <a:srgbClr val="0000DC"/>
                </a:solidFill>
                <a:latin typeface="Century Gothic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3560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 i="0" u="none">
                <a:solidFill>
                  <a:srgbClr val="151515"/>
                </a:solidFill>
                <a:latin typeface="Century Gothic"/>
              </a:rPr>
              <a:t>Trace evidence. Show uncertainty. Make review accountable.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1920240"/>
            <a:ext cx="3566160" cy="0"/>
          </a:xfrm>
          <a:prstGeom prst="line">
            <a:avLst/>
          </a:prstGeom>
          <a:ln w="12700">
            <a:solidFill>
              <a:srgbClr val="AAB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066543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 i="0" u="none">
                <a:solidFill>
                  <a:srgbClr val="555555"/>
                </a:solidFill>
                <a:latin typeface="Century Gothic"/>
              </a:rPr>
              <a:t>TraceLens is proposed as a transparent, source-linked incident timeline workflow for small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45888"/>
            <a:ext cx="4389120" cy="358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 u="none" dirty="0">
                <a:solidFill>
                  <a:srgbClr val="0000DC"/>
                </a:solidFill>
                <a:latin typeface="Century Gothic"/>
              </a:rPr>
              <a:t>Threat Tracers  •  A3-PS013-TC208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 u="none" dirty="0">
                <a:solidFill>
                  <a:srgbClr val="0000DC"/>
                </a:solidFill>
                <a:latin typeface="Century Gothic"/>
              </a:rPr>
              <a:t>[</a:t>
            </a:r>
            <a:r>
              <a:rPr lang="en-US" sz="720" b="1" dirty="0">
                <a:solidFill>
                  <a:srgbClr val="0000DC"/>
                </a:solidFill>
                <a:latin typeface="Century Gothic"/>
              </a:rPr>
              <a:t>V</a:t>
            </a:r>
            <a:r>
              <a:rPr lang="en-US" sz="720" b="1" i="0" u="none" dirty="0">
                <a:solidFill>
                  <a:srgbClr val="0000DC"/>
                </a:solidFill>
                <a:latin typeface="Century Gothic"/>
              </a:rPr>
              <a:t> JISHNU, A VISAL, DR. G. JASPHER W KATHRINE</a:t>
            </a:r>
            <a:r>
              <a:rPr sz="720" b="1" i="0" u="none" dirty="0">
                <a:solidFill>
                  <a:srgbClr val="0000DC"/>
                </a:solidFill>
                <a:latin typeface="Century Gothic"/>
              </a:rPr>
              <a:t>]  </a:t>
            </a:r>
            <a:endParaRPr lang="en-US" sz="720" b="1" i="0" u="none" dirty="0">
              <a:solidFill>
                <a:srgbClr val="0000DC"/>
              </a:solidFill>
              <a:latin typeface="Century Gothic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 u="none" dirty="0">
                <a:solidFill>
                  <a:srgbClr val="0000DC"/>
                </a:solidFill>
                <a:latin typeface="Century Gothic"/>
              </a:rPr>
              <a:t>• [</a:t>
            </a:r>
            <a:r>
              <a:rPr lang="en-US" sz="720" b="1" dirty="0">
                <a:solidFill>
                  <a:srgbClr val="0000DC"/>
                </a:solidFill>
                <a:latin typeface="Century Gothic"/>
              </a:rPr>
              <a:t>K</a:t>
            </a:r>
            <a:r>
              <a:rPr lang="en-US" sz="720" b="1" i="0" u="none" dirty="0">
                <a:solidFill>
                  <a:srgbClr val="0000DC"/>
                </a:solidFill>
                <a:latin typeface="Century Gothic"/>
              </a:rPr>
              <a:t>ARUNYA</a:t>
            </a:r>
            <a:r>
              <a:rPr lang="en-US" sz="720" b="1" dirty="0">
                <a:solidFill>
                  <a:srgbClr val="0000DC"/>
                </a:solidFill>
                <a:latin typeface="Century Gothic"/>
              </a:rPr>
              <a:t> </a:t>
            </a:r>
            <a:r>
              <a:rPr lang="en-US" sz="720" b="1" i="0" u="none" dirty="0">
                <a:solidFill>
                  <a:srgbClr val="0000DC"/>
                </a:solidFill>
                <a:latin typeface="Century Gothic"/>
              </a:rPr>
              <a:t> I</a:t>
            </a:r>
            <a:r>
              <a:rPr sz="720" b="1" i="0" u="none" dirty="0">
                <a:solidFill>
                  <a:srgbClr val="0000DC"/>
                </a:solidFill>
                <a:latin typeface="Century Gothic"/>
              </a:rPr>
              <a:t>NSTITUTION</a:t>
            </a:r>
            <a:r>
              <a:rPr lang="en-US" sz="720" b="1" i="0" u="none" dirty="0">
                <a:solidFill>
                  <a:srgbClr val="0000DC"/>
                </a:solidFill>
                <a:latin typeface="Century Gothic"/>
              </a:rPr>
              <a:t> OF TECHNOLOGY</a:t>
            </a:r>
            <a:r>
              <a:rPr sz="720" b="1" i="0" u="none" dirty="0">
                <a:solidFill>
                  <a:srgbClr val="0000DC"/>
                </a:solidFill>
                <a:latin typeface="Century Gothic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9232"/>
            <a:ext cx="438912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 i="0" u="none">
                <a:solidFill>
                  <a:srgbClr val="555555"/>
                </a:solidFill>
                <a:latin typeface="Century Gothic"/>
              </a:rPr>
              <a:t>STAGE 1 / LEVEL 1 PROPOSAL  •  NO IMPLEMENTATION RESULTS CLAIMED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1758</Words>
  <Application>Microsoft Office PowerPoint</Application>
  <PresentationFormat>Custom</PresentationFormat>
  <Paragraphs>291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TraceLens — AIORI-3 PS-013 Stage 1 Level 1 Proposal</dc:title>
  <dc:subject>Incident Timeline and Evidence Collection for Small Teams</dc:subject>
  <dc:creator>[TEAM NAME]</dc:creator>
  <cp:keywords>AIORI-3, PS-013, incident timeline, digital evidence, TraceLens</cp:keywords>
  <dc:description>Adapted using the official AIORI-3 presentation template; team placeholders require replacement.</dc:description>
  <cp:lastModifiedBy>void a</cp:lastModifiedBy>
  <cp:revision>1</cp:revision>
  <dcterms:created xsi:type="dcterms:W3CDTF">2026-10-12T13:54:23Z</dcterms:created>
  <dcterms:modified xsi:type="dcterms:W3CDTF">2026-10-13T15:16:57Z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2026-10-12T00:00:00Z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